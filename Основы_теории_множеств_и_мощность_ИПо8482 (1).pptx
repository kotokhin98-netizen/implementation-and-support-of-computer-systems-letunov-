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95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954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81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542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1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09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47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967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575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82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70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942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680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366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25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939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00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A3B7E88-5D5B-4D62-91B6-43DF7CEB8F7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26E42-F5E3-4A9A-BAB9-8536C2DB8B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9041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Основы теории множеств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2061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525500" cy="1400530"/>
          </a:xfrm>
        </p:spPr>
        <p:txBody>
          <a:bodyPr/>
          <a:lstStyle/>
          <a:p>
            <a:r>
              <a:rPr lang="ru-RU" b="1" dirty="0"/>
              <a:t>Общие понятия теории множеств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96091" y="1393371"/>
                <a:ext cx="11582399" cy="5364479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ru-RU" sz="3200" b="1" u="sng" dirty="0"/>
                  <a:t>Определение 1.</a:t>
                </a:r>
                <a:r>
                  <a:rPr lang="ru-RU" sz="3200" u="sng" dirty="0"/>
                  <a:t> </a:t>
                </a:r>
                <a:r>
                  <a:rPr lang="ru-RU" sz="3200" dirty="0"/>
                  <a:t>Под </a:t>
                </a:r>
                <a:r>
                  <a:rPr lang="ru-RU" sz="3200" i="1" dirty="0"/>
                  <a:t>множеством</a:t>
                </a:r>
                <a:r>
                  <a:rPr lang="ru-RU" sz="3200" dirty="0"/>
                  <a:t> следует понимать совокупность некоторых объектов, которые называются </a:t>
                </a:r>
                <a:r>
                  <a:rPr lang="ru-RU" sz="3200" i="1" dirty="0"/>
                  <a:t>элементами множества</a:t>
                </a:r>
                <a:r>
                  <a:rPr lang="ru-RU" sz="3200" dirty="0"/>
                  <a:t>. Обозначаем множества – A, B, C, а элементы множества – a, b, c.</a:t>
                </a:r>
              </a:p>
              <a:p>
                <a:pPr marL="0" indent="0" algn="ctr">
                  <a:buNone/>
                </a:pPr>
                <a:endParaRPr lang="ru-RU" sz="2800" dirty="0" smtClean="0"/>
              </a:p>
              <a:p>
                <a:pPr marL="0" indent="0" algn="ctr">
                  <a:buNone/>
                </a:pPr>
                <a:r>
                  <a:rPr lang="ru-RU" sz="2800" dirty="0" smtClean="0"/>
                  <a:t>Вид записи: </a:t>
                </a:r>
                <a:r>
                  <a:rPr lang="en-US" sz="2800" dirty="0"/>
                  <a:t>a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ru-RU" sz="2800" dirty="0"/>
                  <a:t> А – элемент а принадлежит множеству А.</a:t>
                </a:r>
              </a:p>
              <a:p>
                <a:pPr marL="0" indent="0" algn="ctr">
                  <a:buNone/>
                </a:pPr>
                <a:r>
                  <a:rPr lang="ru-RU" sz="2800" dirty="0"/>
                  <a:t>Вид </a:t>
                </a:r>
                <a:r>
                  <a:rPr lang="ru-RU" sz="2800" dirty="0" smtClean="0"/>
                  <a:t>записи: </a:t>
                </a:r>
                <a:r>
                  <a:rPr lang="en-US" sz="2800" dirty="0"/>
                  <a:t>a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lang="ru-RU" sz="2800" dirty="0"/>
                  <a:t> А – элемент а не принадлежит множеству А.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|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∈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&lt;100} 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091" y="1393371"/>
                <a:ext cx="11582399" cy="5364479"/>
              </a:xfrm>
              <a:blipFill rotWithShape="0">
                <a:blip r:embed="rId2"/>
                <a:stretch>
                  <a:fillRect t="-14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1997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Обозначения числовых множеств: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2" y="2052918"/>
            <a:ext cx="9965282" cy="4195481"/>
          </a:xfrm>
        </p:spPr>
        <p:txBody>
          <a:bodyPr/>
          <a:lstStyle/>
          <a:p>
            <a:r>
              <a:rPr lang="en-US" sz="2800" dirty="0" smtClean="0"/>
              <a:t>N</a:t>
            </a:r>
            <a:r>
              <a:rPr lang="ru-RU" sz="2800" dirty="0" smtClean="0"/>
              <a:t> – Множество натуральных чисел</a:t>
            </a:r>
          </a:p>
          <a:p>
            <a:r>
              <a:rPr lang="en-US" sz="2800" dirty="0" smtClean="0"/>
              <a:t>Z</a:t>
            </a:r>
            <a:r>
              <a:rPr lang="ru-RU" sz="2800" dirty="0" smtClean="0"/>
              <a:t> – Множество целых чисел</a:t>
            </a:r>
          </a:p>
          <a:p>
            <a:r>
              <a:rPr lang="en-US" sz="2800" dirty="0" smtClean="0"/>
              <a:t>Q</a:t>
            </a:r>
            <a:r>
              <a:rPr lang="ru-RU" sz="2800" dirty="0" smtClean="0"/>
              <a:t> – Множество рациональных чисел</a:t>
            </a:r>
          </a:p>
          <a:p>
            <a:r>
              <a:rPr lang="en-US" sz="2800" dirty="0" smtClean="0"/>
              <a:t>R </a:t>
            </a:r>
            <a:r>
              <a:rPr lang="ru-RU" sz="2800" dirty="0" smtClean="0"/>
              <a:t>– Множество действительных чисел</a:t>
            </a:r>
          </a:p>
          <a:p>
            <a:r>
              <a:rPr lang="ru-RU" sz="2800" dirty="0" smtClean="0"/>
              <a:t>Ø – Пустое множество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sz="2800" dirty="0"/>
              <a:t>Множества бывают конечными и </a:t>
            </a:r>
            <a:r>
              <a:rPr lang="ru-RU" sz="2800" dirty="0" smtClean="0"/>
              <a:t>бесконечными</a:t>
            </a:r>
            <a:endParaRPr lang="ru-RU" sz="28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73650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32752" y="293786"/>
                <a:ext cx="9747568" cy="6220225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ru-RU" sz="2800" b="1" u="sng" dirty="0"/>
                  <a:t>Определение 2. </a:t>
                </a:r>
                <a:r>
                  <a:rPr lang="ru-RU" sz="2800" dirty="0"/>
                  <a:t>Множество А называется подмножеством В, если все элементы множества А принадлежат B. Обозначается </a:t>
                </a:r>
                <a:r>
                  <a:rPr lang="en-US" sz="2800" dirty="0"/>
                  <a:t>A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B</a:t>
                </a:r>
                <a:r>
                  <a:rPr lang="ru-RU" sz="2800" dirty="0"/>
                  <a:t>.</a:t>
                </a:r>
              </a:p>
              <a:p>
                <a:pPr marL="0" indent="0" algn="ctr">
                  <a:buNone/>
                </a:pPr>
                <a:r>
                  <a:rPr lang="ru-RU" sz="2800" dirty="0"/>
                  <a:t>Пустое множество является подмножеством любого множества.</a:t>
                </a:r>
              </a:p>
              <a:p>
                <a:pPr marL="0" indent="0" algn="ctr">
                  <a:buNone/>
                </a:pPr>
                <a:r>
                  <a:rPr lang="ru-RU" sz="2800" b="1" u="sng" dirty="0"/>
                  <a:t>Определение 3. </a:t>
                </a:r>
                <a:r>
                  <a:rPr lang="ru-RU" sz="2800" dirty="0"/>
                  <a:t>Множество А называется собственным (строгим) подмножеством множества В, если </a:t>
                </a:r>
                <a:r>
                  <a:rPr lang="en-US" sz="2800" dirty="0"/>
                  <a:t>A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B</a:t>
                </a:r>
                <a:r>
                  <a:rPr lang="ru-RU" sz="2800" dirty="0"/>
                  <a:t> и А ≠ </a:t>
                </a:r>
                <a:r>
                  <a:rPr lang="en-US" sz="2800" dirty="0"/>
                  <a:t>B</a:t>
                </a:r>
                <a:r>
                  <a:rPr lang="ru-RU" sz="2800" dirty="0"/>
                  <a:t>, то есть в </a:t>
                </a:r>
                <a:r>
                  <a:rPr lang="ru-RU" sz="2800" dirty="0" err="1"/>
                  <a:t>В</a:t>
                </a:r>
                <a:r>
                  <a:rPr lang="ru-RU" sz="2800" dirty="0"/>
                  <a:t> есть элементы, не содержащиеся в А. Обозначается </a:t>
                </a:r>
                <a:r>
                  <a:rPr lang="en-US" sz="2800" dirty="0"/>
                  <a:t>A </a:t>
                </a:r>
                <a:r>
                  <a:rPr lang="ru-RU" sz="2800" dirty="0"/>
                  <a:t>⊂ </a:t>
                </a:r>
                <a:r>
                  <a:rPr lang="en-US" sz="2800" dirty="0"/>
                  <a:t>B</a:t>
                </a:r>
                <a:r>
                  <a:rPr lang="ru-RU" sz="2800" dirty="0"/>
                  <a:t>. </a:t>
                </a:r>
              </a:p>
              <a:p>
                <a:pPr marL="0" indent="0" algn="ctr">
                  <a:buNone/>
                </a:pPr>
                <a:r>
                  <a:rPr lang="ru-RU" sz="2800" dirty="0"/>
                  <a:t>Например, множество всех четырёхугольников, В – множество всех трапеций, С – множество всех параллелограммов, тогда </a:t>
                </a:r>
                <a:r>
                  <a:rPr lang="en-US" sz="2800" dirty="0"/>
                  <a:t>C </a:t>
                </a:r>
                <a:r>
                  <a:rPr lang="ru-RU" sz="2800" dirty="0"/>
                  <a:t>⊂ </a:t>
                </a:r>
                <a:r>
                  <a:rPr lang="en-US" sz="2800" dirty="0"/>
                  <a:t>B </a:t>
                </a:r>
                <a:r>
                  <a:rPr lang="ru-RU" sz="2800" dirty="0"/>
                  <a:t>⊂ </a:t>
                </a:r>
                <a:r>
                  <a:rPr lang="en-US" sz="2800" dirty="0"/>
                  <a:t>A</a:t>
                </a:r>
                <a:r>
                  <a:rPr lang="ru-RU" sz="2800" dirty="0"/>
                  <a:t>.</a:t>
                </a:r>
              </a:p>
              <a:p>
                <a:pPr marL="0" indent="0" algn="ctr">
                  <a:buNone/>
                </a:pPr>
                <a:r>
                  <a:rPr lang="ru-RU" sz="2800" dirty="0"/>
                  <a:t>Множество А и В равны (А = В), если все их элементы совпадают</a:t>
                </a:r>
                <a:r>
                  <a:rPr lang="ru-RU" sz="2800" dirty="0" smtClean="0"/>
                  <a:t>.</a:t>
                </a: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752" y="293786"/>
                <a:ext cx="9747568" cy="6220225"/>
              </a:xfrm>
              <a:blipFill rotWithShape="0">
                <a:blip r:embed="rId2"/>
                <a:stretch>
                  <a:fillRect l="-1251" t="-1665" r="-21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076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48046" y="269966"/>
                <a:ext cx="9901807" cy="5978433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ru-RU" sz="2800" b="1" u="sng" dirty="0"/>
                  <a:t>Определение 4. </a:t>
                </a:r>
                <a:r>
                  <a:rPr lang="ru-RU" sz="2800" dirty="0"/>
                  <a:t>Совокупность всех подмножеств множества А называется его </a:t>
                </a:r>
                <a:r>
                  <a:rPr lang="ru-RU" sz="2800" b="1" dirty="0" err="1"/>
                  <a:t>булеаном</a:t>
                </a:r>
                <a:r>
                  <a:rPr lang="ru-RU" sz="2800" b="1" dirty="0"/>
                  <a:t>, </a:t>
                </a:r>
                <a:r>
                  <a:rPr lang="ru-RU" sz="2800" dirty="0"/>
                  <a:t>или множеством-степенью. Обозначается </a:t>
                </a:r>
                <a:r>
                  <a:rPr lang="en-US" sz="2800" dirty="0"/>
                  <a:t>B</a:t>
                </a:r>
                <a:r>
                  <a:rPr lang="ru-RU" sz="2800" dirty="0"/>
                  <a:t>(</a:t>
                </a:r>
                <a:r>
                  <a:rPr lang="en-US" sz="2800" dirty="0"/>
                  <a:t>A</a:t>
                </a:r>
                <a:r>
                  <a:rPr lang="ru-RU" sz="2800" dirty="0"/>
                  <a:t>), или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А</m:t>
                        </m:r>
                      </m:sup>
                    </m:sSup>
                  </m:oMath>
                </a14:m>
                <a:r>
                  <a:rPr lang="ru-RU" sz="2800" dirty="0"/>
                  <a:t>.</a:t>
                </a:r>
              </a:p>
              <a:p>
                <a:pPr marL="0" indent="0" algn="ctr">
                  <a:buNone/>
                </a:pPr>
                <a:r>
                  <a:rPr lang="ru-RU" sz="2800" dirty="0"/>
                  <a:t>Например, для множества </a:t>
                </a:r>
                <a:r>
                  <a:rPr lang="en-US" sz="2800" dirty="0"/>
                  <a:t>A</a:t>
                </a:r>
                <a:r>
                  <a:rPr lang="ru-RU" sz="2800" dirty="0"/>
                  <a:t> = {5, 8, 9} совокупность всех его подмножеств (</a:t>
                </a:r>
                <a:r>
                  <a:rPr lang="ru-RU" sz="2800" dirty="0" err="1"/>
                  <a:t>булеан</a:t>
                </a:r>
                <a:r>
                  <a:rPr lang="ru-RU" sz="2800" dirty="0"/>
                  <a:t>) имеет вид: </a:t>
                </a:r>
                <a:r>
                  <a:rPr lang="en-US" sz="2800" dirty="0"/>
                  <a:t>B</a:t>
                </a:r>
                <a:r>
                  <a:rPr lang="ru-RU" sz="2800" dirty="0"/>
                  <a:t>(</a:t>
                </a:r>
                <a:r>
                  <a:rPr lang="en-US" sz="2800" dirty="0"/>
                  <a:t>A</a:t>
                </a:r>
                <a:r>
                  <a:rPr lang="ru-RU" sz="2800" dirty="0"/>
                  <a:t>) = {Ø, {5}, {8}, {9}, {5, 8}, {5, 9}, {8, 9}, {5, 8, 9}}. 2</a:t>
                </a:r>
                <a:r>
                  <a:rPr lang="ru-RU" sz="2800" baseline="30000" dirty="0"/>
                  <a:t>3</a:t>
                </a:r>
                <a:r>
                  <a:rPr lang="ru-RU" sz="2800" dirty="0"/>
                  <a:t> = 8 подмножеств.</a:t>
                </a:r>
              </a:p>
              <a:p>
                <a:pPr marL="0" indent="0" algn="ctr">
                  <a:buNone/>
                </a:pPr>
                <a:r>
                  <a:rPr lang="ru-RU" sz="2800" b="1" u="sng" dirty="0"/>
                  <a:t>Определение 5.</a:t>
                </a:r>
                <a:r>
                  <a:rPr lang="ru-RU" sz="2800" u="sng" dirty="0"/>
                  <a:t> </a:t>
                </a:r>
                <a:r>
                  <a:rPr lang="ru-RU" sz="2800" dirty="0"/>
                  <a:t>Если для множества указан порядок расположения элементов, то множество называется упорядоченным: поменяв местами хотя бы два элемента получается другое множество.</a:t>
                </a:r>
              </a:p>
              <a:p>
                <a:pPr marL="0" indent="0" algn="ctr">
                  <a:buNone/>
                </a:pPr>
                <a:r>
                  <a:rPr lang="ru-RU" sz="2800" dirty="0"/>
                  <a:t>Например, множества </a:t>
                </a:r>
                <a:r>
                  <a:rPr lang="en-US" sz="2800" dirty="0"/>
                  <a:t>A</a:t>
                </a:r>
                <a:r>
                  <a:rPr lang="ru-RU" sz="2800" dirty="0"/>
                  <a:t> = {</a:t>
                </a:r>
                <a:r>
                  <a:rPr lang="en-US" sz="2800" dirty="0"/>
                  <a:t>a</a:t>
                </a:r>
                <a:r>
                  <a:rPr lang="ru-RU" sz="2800" dirty="0"/>
                  <a:t>, </a:t>
                </a:r>
                <a:r>
                  <a:rPr lang="en-US" sz="2800" dirty="0"/>
                  <a:t>b</a:t>
                </a:r>
                <a:r>
                  <a:rPr lang="ru-RU" sz="2800" dirty="0"/>
                  <a:t>, </a:t>
                </a:r>
                <a:r>
                  <a:rPr lang="en-US" sz="2800" dirty="0"/>
                  <a:t>c</a:t>
                </a:r>
                <a:r>
                  <a:rPr lang="ru-RU" sz="2800" dirty="0"/>
                  <a:t>, </a:t>
                </a:r>
                <a:r>
                  <a:rPr lang="en-US" sz="2800" dirty="0"/>
                  <a:t>d</a:t>
                </a:r>
                <a:r>
                  <a:rPr lang="ru-RU" sz="2800" dirty="0"/>
                  <a:t>} и </a:t>
                </a:r>
                <a:r>
                  <a:rPr lang="en-US" sz="2800" dirty="0"/>
                  <a:t>B</a:t>
                </a:r>
                <a:r>
                  <a:rPr lang="ru-RU" sz="2800" dirty="0"/>
                  <a:t> = {</a:t>
                </a:r>
                <a:r>
                  <a:rPr lang="en-US" sz="2800" dirty="0"/>
                  <a:t>c</a:t>
                </a:r>
                <a:r>
                  <a:rPr lang="ru-RU" sz="2800" dirty="0"/>
                  <a:t>, </a:t>
                </a:r>
                <a:r>
                  <a:rPr lang="en-US" sz="2800" dirty="0"/>
                  <a:t>d</a:t>
                </a:r>
                <a:r>
                  <a:rPr lang="ru-RU" sz="2800" dirty="0"/>
                  <a:t>, </a:t>
                </a:r>
                <a:r>
                  <a:rPr lang="en-US" sz="2800" dirty="0"/>
                  <a:t>a</a:t>
                </a:r>
                <a:r>
                  <a:rPr lang="ru-RU" sz="2800" dirty="0"/>
                  <a:t>, </a:t>
                </a:r>
                <a:r>
                  <a:rPr lang="en-US" sz="2800" dirty="0"/>
                  <a:t>b</a:t>
                </a:r>
                <a:r>
                  <a:rPr lang="ru-RU" sz="2800" dirty="0"/>
                  <a:t>} состоят из одинаковых элементов, но они не являются одинаково упорядоченными.</a:t>
                </a:r>
              </a:p>
              <a:p>
                <a:pPr marL="0" indent="0" algn="ctr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046" y="269966"/>
                <a:ext cx="9901807" cy="5978433"/>
              </a:xfrm>
              <a:blipFill rotWithShape="0">
                <a:blip r:embed="rId2"/>
                <a:stretch>
                  <a:fillRect l="-800" t="-1733" r="-1846" b="-8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843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5132" y="984069"/>
            <a:ext cx="9814722" cy="5264330"/>
          </a:xfrm>
        </p:spPr>
        <p:txBody>
          <a:bodyPr/>
          <a:lstStyle/>
          <a:p>
            <a:pPr marL="0" indent="0" algn="ctr">
              <a:buNone/>
            </a:pPr>
            <a:r>
              <a:rPr lang="ru-RU" sz="3200" b="1" u="sng" dirty="0"/>
              <a:t>Определение 6. </a:t>
            </a:r>
            <a:r>
              <a:rPr lang="ru-RU" sz="3200" dirty="0"/>
              <a:t>Универсальным множеством называется такое множество, что все рассматриваемые множества являются его подмножествами. Обозначается как </a:t>
            </a:r>
            <a:r>
              <a:rPr lang="en-US" sz="3200" dirty="0"/>
              <a:t>U</a:t>
            </a:r>
            <a:r>
              <a:rPr lang="ru-RU" sz="3200" dirty="0"/>
              <a:t>.</a:t>
            </a:r>
          </a:p>
          <a:p>
            <a:pPr marL="0" indent="0" algn="ctr">
              <a:buNone/>
            </a:pPr>
            <a:r>
              <a:rPr lang="ru-RU" sz="3200" dirty="0"/>
              <a:t>Мера множества – обобщение понятия длины отрезка, площади плоской фигуры, объёма пространственной фигуры, приращения неубывающей функции, интеграла от неотрицательной функции. Обозначается </a:t>
            </a:r>
            <a:r>
              <a:rPr lang="en-US" sz="3200" dirty="0"/>
              <a:t>μ(A)</a:t>
            </a:r>
            <a:r>
              <a:rPr lang="ru-RU" sz="3200" dirty="0"/>
              <a:t>.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2159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Способы задания множеств</a:t>
            </a:r>
            <a:r>
              <a:rPr lang="ru-RU" dirty="0" smtClean="0"/>
              <a:t>: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46111" y="1332411"/>
                <a:ext cx="10313625" cy="522514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ru-RU" sz="2800" dirty="0"/>
                  <a:t>1. Перечисление – задание списка элементов (только для конечных множеств).</a:t>
                </a:r>
              </a:p>
              <a:p>
                <a:pPr marL="0" indent="0">
                  <a:buNone/>
                </a:pPr>
                <a:r>
                  <a:rPr lang="ru-RU" sz="2800" dirty="0"/>
                  <a:t>Например,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sz="28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, …,  </m:t>
                        </m:r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800" dirty="0"/>
                  <a:t> – множество, содержащее </a:t>
                </a:r>
                <a:r>
                  <a:rPr lang="en-US" sz="2800" dirty="0"/>
                  <a:t>n </a:t>
                </a:r>
                <a:r>
                  <a:rPr lang="ru-RU" sz="2800" dirty="0"/>
                  <a:t>элементов.</a:t>
                </a:r>
              </a:p>
              <a:p>
                <a:r>
                  <a:rPr lang="ru-RU" sz="2800" dirty="0"/>
                  <a:t>2. Порождающая процедура описывает способ получения элементов множества на основе уже ранее описанных множеств.</a:t>
                </a:r>
              </a:p>
              <a:p>
                <a:r>
                  <a:rPr lang="ru-RU" sz="2800" dirty="0"/>
                  <a:t>3. Описание характеристических свойств – словесное, аналитическое или процедурное описание элементов множества: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sz="28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– множество, состоящее из таких элементов х, которые обладают свойством Р. </a:t>
                </a:r>
                <a:endParaRPr lang="en-US" sz="2800" dirty="0" smtClean="0"/>
              </a:p>
              <a:p>
                <a:pPr marL="0" indent="0">
                  <a:buNone/>
                </a:pPr>
                <a:r>
                  <a:rPr lang="ru-RU" sz="2800" dirty="0"/>
                  <a:t>Например,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ru-RU" sz="28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ru-RU" sz="2800" dirty="0"/>
                  <a:t> – множество </a:t>
                </a:r>
                <a:r>
                  <a:rPr lang="ru-RU" sz="2800" dirty="0" smtClean="0"/>
                  <a:t>нечётных </a:t>
                </a:r>
                <a:r>
                  <a:rPr lang="ru-RU" sz="2800" dirty="0"/>
                  <a:t>чисел</a:t>
                </a:r>
                <a:r>
                  <a:rPr lang="ru-RU" sz="2800" dirty="0" smtClean="0"/>
                  <a:t>.</a:t>
                </a:r>
                <a:endParaRPr lang="ru-RU" sz="28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1" y="1332411"/>
                <a:ext cx="10313625" cy="5225143"/>
              </a:xfrm>
              <a:blipFill rotWithShape="0">
                <a:blip r:embed="rId2"/>
                <a:stretch>
                  <a:fillRect l="-1064" t="-2684" r="-1005" b="-17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02174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Другая 6">
      <a:dk1>
        <a:sysClr val="windowText" lastClr="000000"/>
      </a:dk1>
      <a:lt1>
        <a:srgbClr val="000000"/>
      </a:lt1>
      <a:dk2>
        <a:srgbClr val="EBEBEB"/>
      </a:dk2>
      <a:lt2>
        <a:srgbClr val="000000"/>
      </a:lt2>
      <a:accent1>
        <a:srgbClr val="8AD0D5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190</TotalTime>
  <Words>246</Words>
  <Application>Microsoft Office PowerPoint</Application>
  <PresentationFormat>Широкоэкранный</PresentationFormat>
  <Paragraphs>33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Cambria Math</vt:lpstr>
      <vt:lpstr>Century Gothic</vt:lpstr>
      <vt:lpstr>Wingdings 3</vt:lpstr>
      <vt:lpstr>Ион</vt:lpstr>
      <vt:lpstr>Основы теории множеств</vt:lpstr>
      <vt:lpstr>Общие понятия теории множеств</vt:lpstr>
      <vt:lpstr>Обозначения числовых множеств:</vt:lpstr>
      <vt:lpstr>Презентация PowerPoint</vt:lpstr>
      <vt:lpstr>Презентация PowerPoint</vt:lpstr>
      <vt:lpstr>Презентация PowerPoint</vt:lpstr>
      <vt:lpstr>Способы задания множеств: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теории множеств</dc:title>
  <dc:creator>Алина Ермолаева</dc:creator>
  <cp:lastModifiedBy>Алина Ермолаева</cp:lastModifiedBy>
  <cp:revision>10</cp:revision>
  <dcterms:created xsi:type="dcterms:W3CDTF">2025-02-04T11:46:37Z</dcterms:created>
  <dcterms:modified xsi:type="dcterms:W3CDTF">2026-03-16T11:24:55Z</dcterms:modified>
</cp:coreProperties>
</file>